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d83c571ff544db" /><Relationship Type="http://schemas.openxmlformats.org/officeDocument/2006/relationships/extended-properties" Target="/docProps/app.xml" Id="R20fd74d6228f423e" /><Relationship Type="http://schemas.openxmlformats.org/officeDocument/2006/relationships/officeDocument" Target="/ppt/presentation.xml" Id="R089e0554117d47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fed48cdafd422b"/>
  </p:sldMasterIdLst>
  <p:notesMasterIdLst>
    <p:notesMasterId xmlns:r="http://schemas.openxmlformats.org/officeDocument/2006/relationships" r:id="R053d4d486c314550"/>
  </p:notesMasterIdLst>
  <p:sldIdLst>
    <p:sldId xmlns:r="http://schemas.openxmlformats.org/officeDocument/2006/relationships" id="256" r:id="R632f913ade524653"/>
    <p:sldId xmlns:r="http://schemas.openxmlformats.org/officeDocument/2006/relationships" id="257" r:id="R78e39c990a88437c"/>
  </p:sldIdLst>
  <p:sldSz cx="10696575" cy="7562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e92100fade4287" /><Relationship Type="http://schemas.openxmlformats.org/officeDocument/2006/relationships/slideMaster" Target="/ppt/slideMasters/slideMaster1.xml" Id="R36fed48cdafd422b" /><Relationship Type="http://schemas.openxmlformats.org/officeDocument/2006/relationships/notesMaster" Target="/ppt/notesMasters/notesMaster1.xml" Id="R053d4d486c314550" /><Relationship Type="http://schemas.openxmlformats.org/officeDocument/2006/relationships/presProps" Target="/ppt/presProps.xml" Id="Rbf6153c420ba47ef" /><Relationship Type="http://schemas.openxmlformats.org/officeDocument/2006/relationships/tableStyles" Target="/ppt/tableStyles.xml" Id="R829f8a092b3e4323" /><Relationship Type="http://schemas.openxmlformats.org/officeDocument/2006/relationships/slide" Target="/ppt/slides/slide1.xml" Id="R632f913ade524653" /><Relationship Type="http://schemas.openxmlformats.org/officeDocument/2006/relationships/slide" Target="/ppt/slides/slide2.xml" Id="R78e39c990a8843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f3a281d6834d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b2e167c84146f8" /><Relationship Type="http://schemas.openxmlformats.org/officeDocument/2006/relationships/notesMaster" Target="/ppt/notesMasters/notesMaster1.xml" Id="Rb39e6625afab46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687b66a6774520" /><Relationship Type="http://schemas.openxmlformats.org/officeDocument/2006/relationships/notesMaster" Target="/ppt/notesMasters/notesMaster1.xml" Id="R3ecd8e85fc464b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Informació històrica: TFM patrimoni 4.pdf facilitat per l'usuari i contingut de la web https://via-verda-alcoi-gandia.arturosdg.chatgpt.site</a:t>
            </a:r>
          </a:p>
          <a:p xmlns:a="http://schemas.openxmlformats.org/drawingml/2006/main">
            <a:r>
              <a:t>- Fotografies: inventari facilitat per l'usuari i incorporat al projecte tren-dels-anglesos</a:t>
            </a:r>
          </a:p>
          <a:p xmlns:a="http://schemas.openxmlformats.org/drawingml/2006/main">
            <a:r>
              <a:t>- Codi QR: enllaç directe a la guia digital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Descripcions patrimonials: TFM patrimoni 4.pdf facilitat per l'usuari i contingut de la web https://via-verda-alcoi-gandia.arturosdg.chatgpt.site</a:t>
            </a:r>
          </a:p>
          <a:p xmlns:a="http://schemas.openxmlformats.org/drawingml/2006/main">
            <a:r>
              <a:t>- Fotografies: inventari facilitat per l'usuari i incorporat al projecte tren-dels-anglesos</a:t>
            </a:r>
          </a:p>
          <a:p xmlns:a="http://schemas.openxmlformats.org/drawingml/2006/main">
            <a:r>
              <a:t>- Traçat i punts d'interés: ruta-alcoi-gandia.gpx i inventari de la guia digital</a:t>
            </a:r>
          </a:p>
          <a:p xmlns:a="http://schemas.openxmlformats.org/drawingml/2006/main">
            <a:r>
              <a:t>- Cartografia del mapa: © OpenStreetMap contributors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7b969abfb49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8191a1887c41a1" /><Relationship Type="http://schemas.openxmlformats.org/officeDocument/2006/relationships/slideLayout" Target="/ppt/slideLayouts/slideLayout1.xml" Id="Rd20d7dff2dca43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0d7dff2dca43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a163a37bb4989" /><Relationship Type="http://schemas.openxmlformats.org/officeDocument/2006/relationships/image" Target="/ppt/media/image.jpeg" Id="R330886d025ae4bd4" /><Relationship Type="http://schemas.openxmlformats.org/officeDocument/2006/relationships/image" Target="/ppt/media/image.png" Id="R41b8adf4af084b63" /><Relationship Type="http://schemas.openxmlformats.org/officeDocument/2006/relationships/image" Target="/ppt/media/image2.jpeg" Id="R024f8ed39e90461e" /><Relationship Type="http://schemas.openxmlformats.org/officeDocument/2006/relationships/notesSlide" Target="/ppt/notesSlides/notesSlide1.xml" Id="R600d74aeb63749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cc95bce614450" /><Relationship Type="http://schemas.openxmlformats.org/officeDocument/2006/relationships/image" Target="/ppt/media/image3.jpeg" Id="R89723ea102864e5b" /><Relationship Type="http://schemas.openxmlformats.org/officeDocument/2006/relationships/image" Target="/ppt/media/image4.jpeg" Id="Rd01f1157f0c4451d" /><Relationship Type="http://schemas.openxmlformats.org/officeDocument/2006/relationships/image" Target="/ppt/media/image5.jpeg" Id="R2762932f564d410e" /><Relationship Type="http://schemas.openxmlformats.org/officeDocument/2006/relationships/image" Target="/ppt/media/image6.jpeg" Id="R5860745b5fbd4f93" /><Relationship Type="http://schemas.openxmlformats.org/officeDocument/2006/relationships/image" Target="/ppt/media/image7.jpeg" Id="R86f8fe8f426a4eca" /><Relationship Type="http://schemas.openxmlformats.org/officeDocument/2006/relationships/notesSlide" Target="/ppt/notesSlides/notesSlide2.xml" Id="Rf8a8c029f4ef44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outside-flap">
            <a:extLst xmlns:a="http://schemas.openxmlformats.org/drawingml/2006/main">
              <a:ext uri="{FF2B5EF4-FFF2-40B4-BE49-F238E27FC236}">
                <a16:creationId xmlns:a16="http://schemas.microsoft.com/office/drawing/2014/main" id="{E3B40F05-AEAB-4659-8624-3C69159E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95675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886d025ae4bd4"/>
          <a:srcRect xmlns:a="http://schemas.openxmlformats.org/drawingml/2006/main" l="0" t="25952" r="0" b="259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95675" cy="2238375"/>
          </a:xfrm>
          <a:prstGeom xmlns:a="http://schemas.openxmlformats.org/drawingml/2006/main" prst="rect">
            <a:avLst/>
          </a:prstGeom>
        </p:spPr>
      </p:pic>
      <p:sp>
        <p:nvSpPr>
          <p:cNvPr id="3" name="date-label">
            <a:extLst xmlns:a="http://schemas.openxmlformats.org/drawingml/2006/main">
              <a:ext uri="{FF2B5EF4-FFF2-40B4-BE49-F238E27FC236}">
                <a16:creationId xmlns:a16="http://schemas.microsoft.com/office/drawing/2014/main" id="{87A2B804-C585-4AA5-A7D3-2E85AB3D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90725"/>
            <a:ext cx="742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8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6358E-3934-460B-8304-DEDAF2C2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0574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</a:defRPr>
            </a:pPr>
            <a:r>
              <a:rPr sz="788" b="1" i="0">
                <a:solidFill>
                  <a:srgbClr val="FFFFFF"/>
                </a:solidFill>
              </a:rPr>
              <a:t>1893 - 1969</a:t>
            </a:r>
          </a:p>
        </p:txBody>
      </p:sp>
      <p:sp>
        <p:nvSpPr>
          <p:cNvPr id="5" name="kicker-Història de la línia">
            <a:extLst xmlns:a="http://schemas.openxmlformats.org/drawingml/2006/main">
              <a:ext uri="{FF2B5EF4-FFF2-40B4-BE49-F238E27FC236}">
                <a16:creationId xmlns:a16="http://schemas.microsoft.com/office/drawing/2014/main" id="{3B014472-F0FE-42DE-BBA5-6D08300B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81275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482D"/>
                </a:solidFill>
              </a:defRPr>
            </a:pPr>
            <a:r>
              <a:rPr sz="825" b="1" i="0">
                <a:solidFill>
                  <a:srgbClr val="A5482D"/>
                </a:solidFill>
              </a:rPr>
              <a:t>HISTÒRIA DE LA LÍNIA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4EDE9-2A5D-44DA-AF55-8F0676A4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86075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02826"/>
                </a:solidFill>
              </a:defRPr>
            </a:pPr>
            <a:r>
              <a:rPr sz="2025" b="1" i="0">
                <a:solidFill>
                  <a:srgbClr val="202826"/>
                </a:solidFill>
              </a:rPr>
              <a:t>Una línia entre la muntanya i la mar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6104B-2682-471A-A6F1-D46F05BC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29050"/>
            <a:ext cx="28860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82" b="0" i="0">
                <a:solidFill>
                  <a:srgbClr val="52615D"/>
                </a:solidFill>
              </a:defRPr>
            </a:pPr>
            <a:r>
              <a:rPr sz="982" b="0" i="0">
                <a:solidFill>
                  <a:srgbClr val="52615D"/>
                </a:solidFill>
              </a:rPr>
              <a:t>Inaugurada el 1893 per l'Alcoy and Gandia Harbour Company Limited, la línia va unir les comarques de l'interior amb Gandia i el seu 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B0686-0D88-4A0D-8DF0-C2168A7A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57750"/>
            <a:ext cx="28860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82" b="0" i="0">
                <a:solidFill>
                  <a:srgbClr val="52615D"/>
                </a:solidFill>
              </a:defRPr>
            </a:pPr>
            <a:r>
              <a:rPr sz="982" b="0" i="0">
                <a:solidFill>
                  <a:srgbClr val="52615D"/>
                </a:solidFill>
              </a:rPr>
              <a:t>Va nàixer per transportar carbó i productes industrials, però prompte es convertí també en un mitjà essencial per a milers de viatgers.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184FE-AFC7-4F7B-AA16-6A48992D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96265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C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2DDA0-6240-4AF9-A7E4-65E01820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912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A5482D"/>
                </a:solidFill>
              </a:defRPr>
            </a:pPr>
            <a:r>
              <a:rPr sz="2025" b="1" i="0">
                <a:solidFill>
                  <a:srgbClr val="A5482D"/>
                </a:solidFill>
              </a:rPr>
              <a:t>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D1533-AD37-40E3-9CB6-437E6E38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 i="0">
                <a:solidFill>
                  <a:srgbClr val="52615D"/>
                </a:solidFill>
              </a:defRPr>
            </a:pPr>
            <a:r>
              <a:rPr sz="713" b="1" i="0">
                <a:solidFill>
                  <a:srgbClr val="52615D"/>
                </a:solidFill>
              </a:rPr>
              <a:t>ANYS DE SERVEI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49159-03CD-4CD5-8977-6E89905D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1912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476A60"/>
                </a:solidFill>
              </a:defRPr>
            </a:pPr>
            <a:r>
              <a:rPr sz="2025" b="1" i="0">
                <a:solidFill>
                  <a:srgbClr val="476A6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C751C-CB6D-4E50-8D75-4C4C8D3B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5532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 i="0">
                <a:solidFill>
                  <a:srgbClr val="52615D"/>
                </a:solidFill>
              </a:defRPr>
            </a:pPr>
            <a:r>
              <a:rPr sz="713" b="1" i="0">
                <a:solidFill>
                  <a:srgbClr val="52615D"/>
                </a:solidFill>
              </a:rPr>
              <a:t>COMARQUES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A44E9-B0E8-48CE-AE80-3D424FF5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1912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58A3C"/>
                </a:solidFill>
              </a:defRPr>
            </a:pPr>
            <a:r>
              <a:rPr sz="2025" b="1" i="0">
                <a:solidFill>
                  <a:srgbClr val="B58A3C"/>
                </a:solidFill>
              </a:rPr>
              <a:t>1969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7D51A-675F-4B7C-B6C7-92B7A50D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532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 i="0">
                <a:solidFill>
                  <a:srgbClr val="52615D"/>
                </a:solidFill>
              </a:defRPr>
            </a:pPr>
            <a:r>
              <a:rPr sz="713" b="1" i="0">
                <a:solidFill>
                  <a:srgbClr val="52615D"/>
                </a:solidFill>
              </a:rPr>
              <a:t>ÚLTIM VIATGE</a:t>
            </a:r>
          </a:p>
        </p:txBody>
      </p:sp>
      <p:sp>
        <p:nvSpPr>
          <p:cNvPr id="16" name="back-cover">
            <a:extLst xmlns:a="http://schemas.openxmlformats.org/drawingml/2006/main">
              <a:ext uri="{FF2B5EF4-FFF2-40B4-BE49-F238E27FC236}">
                <a16:creationId xmlns:a16="http://schemas.microsoft.com/office/drawing/2014/main" id="{CFB18DF5-1F37-4117-99E5-025018D6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0"/>
            <a:ext cx="3600450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icker-Guia digital">
            <a:extLst xmlns:a="http://schemas.openxmlformats.org/drawingml/2006/main">
              <a:ext uri="{FF2B5EF4-FFF2-40B4-BE49-F238E27FC236}">
                <a16:creationId xmlns:a16="http://schemas.microsoft.com/office/drawing/2014/main" id="{473D1C8D-71DC-4B8A-A452-F0F3D20A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286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9BD78"/>
                </a:solidFill>
              </a:defRPr>
            </a:pPr>
            <a:r>
              <a:rPr sz="825" b="1" i="0">
                <a:solidFill>
                  <a:srgbClr val="D9BD78"/>
                </a:solidFill>
              </a:rPr>
              <a:t>GUIA DIGITAL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827A4-827B-47B4-91C5-42FB9A73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742950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Explora la ruta al teu ritme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0E01A-7DCF-475D-A6B7-272AA281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676400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E7EEE9"/>
                </a:solidFill>
              </a:defRPr>
            </a:pPr>
            <a:r>
              <a:rPr sz="975" b="0" i="0">
                <a:solidFill>
                  <a:srgbClr val="E7EEE9"/>
                </a:solidFill>
              </a:rPr>
              <a:t>Consulta el mapa, ordena el recorregut des d'Alcoi o des del Port de Gandia i filtra els elements conservats o desapareguts.</a:t>
            </a:r>
          </a:p>
        </p:txBody>
      </p:sp>
      <p:sp>
        <p:nvSpPr>
          <p:cNvPr id="20" name="qr-frame">
            <a:extLst xmlns:a="http://schemas.openxmlformats.org/drawingml/2006/main">
              <a:ext uri="{FF2B5EF4-FFF2-40B4-BE49-F238E27FC236}">
                <a16:creationId xmlns:a16="http://schemas.microsoft.com/office/drawing/2014/main" id="{77F7BB41-6AC5-422C-96D6-C7BE1F2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952750"/>
            <a:ext cx="2228850" cy="2228850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8adf4af084b63"/>
          <a:stretch xmlns:a="http://schemas.openxmlformats.org/drawingml/2006/main"/>
        </p:blipFill>
        <p:spPr>
          <a:xfrm xmlns:a="http://schemas.openxmlformats.org/drawingml/2006/main">
            <a:off x="4333875" y="3105150"/>
            <a:ext cx="1924050" cy="19240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BB355-6705-41E9-A82F-01C8AC97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381625"/>
            <a:ext cx="2552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D9BD78"/>
                </a:solidFill>
              </a:defRPr>
            </a:pPr>
            <a:r>
              <a:rPr sz="825" b="1" i="0">
                <a:solidFill>
                  <a:srgbClr val="D9BD78"/>
                </a:solidFill>
              </a:rPr>
              <a:t>ESCANEJA I DESCOBREIX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D7EF4F-7847-4BDA-9FB8-6F63C915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1500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FFFFFF"/>
                </a:solidFill>
              </a:defRPr>
            </a:pPr>
            <a:r>
              <a:rPr sz="788" b="0" i="0">
                <a:solidFill>
                  <a:srgbClr val="FFFFFF"/>
                </a:solidFill>
              </a:rPr>
              <a:t>via-verda-alcoi-gandia.arturosdg.chatgpt.site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420898-B149-4614-8BC3-C9A8BC9E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47700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8918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B146F-65DA-445C-A485-E6B78178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657975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D6E0DC"/>
                </a:solidFill>
              </a:defRPr>
            </a:pPr>
            <a:r>
              <a:rPr sz="788" b="0" i="0">
                <a:solidFill>
                  <a:srgbClr val="D6E0DC"/>
                </a:solidFill>
              </a:rPr>
              <a:t>Camina o pedaleja amb respecte. No alteres les restes i consulta l'estat dels trams abans d'iniciar el recorregut.</a:t>
            </a:r>
          </a:p>
        </p:txBody>
      </p:sp>
      <p:sp>
        <p:nvSpPr>
          <p:cNvPr id="26" name="front-cover">
            <a:extLst xmlns:a="http://schemas.openxmlformats.org/drawingml/2006/main">
              <a:ext uri="{FF2B5EF4-FFF2-40B4-BE49-F238E27FC236}">
                <a16:creationId xmlns:a16="http://schemas.microsoft.com/office/drawing/2014/main" id="{167AF062-3A65-4416-A31C-604BFB80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0"/>
            <a:ext cx="3600450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f8ed39e90461e"/>
          <a:srcRect xmlns:a="http://schemas.openxmlformats.org/drawingml/2006/main" l="0" t="3059" r="0" b="30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125" y="0"/>
            <a:ext cx="3600450" cy="3790950"/>
          </a:xfrm>
          <a:prstGeom xmlns:a="http://schemas.openxmlformats.org/drawingml/2006/main" prst="rect">
            <a:avLst/>
          </a:prstGeom>
        </p:spPr>
      </p:pic>
      <p:sp>
        <p:nvSpPr>
          <p:cNvPr id="2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F87053D-09EF-44E1-8D2C-8EAAA64B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38550"/>
            <a:ext cx="3600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4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kicker-Ruta patrimonial">
            <a:extLst xmlns:a="http://schemas.openxmlformats.org/drawingml/2006/main">
              <a:ext uri="{FF2B5EF4-FFF2-40B4-BE49-F238E27FC236}">
                <a16:creationId xmlns:a16="http://schemas.microsoft.com/office/drawing/2014/main" id="{247DF630-CD6A-42BD-AF83-F0040954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29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9BD78"/>
                </a:solidFill>
              </a:defRPr>
            </a:pPr>
            <a:r>
              <a:rPr sz="825" b="1" i="0">
                <a:solidFill>
                  <a:srgbClr val="D9BD78"/>
                </a:solidFill>
              </a:rPr>
              <a:t>RUTA PATRIMONIAL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20E3A3-11C4-49FB-8A36-07264B82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5529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FFFFFF"/>
                </a:solidFill>
              </a:defRPr>
            </a:pPr>
            <a:r>
              <a:rPr sz="2775" b="1" i="0">
                <a:solidFill>
                  <a:srgbClr val="FFFFFF"/>
                </a:solidFill>
              </a:rPr>
              <a:t>El Tren dels</a:t>
            </a:r>
          </a:p>
          <a:p xmlns:a="http://schemas.openxmlformats.org/drawingml/2006/main">
            <a:pPr algn="l">
              <a:defRPr sz="2775" b="1" i="0">
                <a:solidFill>
                  <a:srgbClr val="FFFFFF"/>
                </a:solidFill>
              </a:defRPr>
            </a:pPr>
            <a:r>
              <a:rPr sz="2775" b="1" i="0">
                <a:solidFill>
                  <a:srgbClr val="FFFFFF"/>
                </a:solidFill>
              </a:rPr>
              <a:t>Anglesos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BF2FDE-92DB-460B-94CF-D12CF0FC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8293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DFDC"/>
                </a:solidFill>
              </a:defRPr>
            </a:pPr>
            <a:r>
              <a:rPr sz="1200" b="0" i="0">
                <a:solidFill>
                  <a:srgbClr val="D8DFDC"/>
                </a:solidFill>
              </a:rPr>
              <a:t>Un viatge pel traçat de l'antiga línia d'Alcoi a Gandia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EAAD7-7A09-4462-908F-CFBC01AA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68008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8A3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66F9FA-6394-4CB8-A318-124B8724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6972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D9BD78"/>
                </a:solidFill>
              </a:defRPr>
            </a:pPr>
            <a:r>
              <a:rPr sz="788" b="1" i="0">
                <a:solidFill>
                  <a:srgbClr val="D9BD78"/>
                </a:solidFill>
              </a:rPr>
              <a:t>ALCOI  ·  GANDIA  ·  PORT</a:t>
            </a:r>
          </a:p>
        </p:txBody>
      </p:sp>
      <p:sp>
        <p:nvSpPr>
          <p:cNvPr id="34" name="fold-top-367">
            <a:extLst xmlns:a="http://schemas.openxmlformats.org/drawingml/2006/main">
              <a:ext uri="{FF2B5EF4-FFF2-40B4-BE49-F238E27FC236}">
                <a16:creationId xmlns:a16="http://schemas.microsoft.com/office/drawing/2014/main" id="{02BF56A0-2B2A-4EB7-A92F-7F92A4A9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8A3C"/>
            </a:solidFill>
            <a:prstDash val="solid"/>
          </a:ln>
        </p:spPr>
      </p:sp>
      <p:sp>
        <p:nvSpPr>
          <p:cNvPr id="35" name="fold-bottom-367">
            <a:extLst xmlns:a="http://schemas.openxmlformats.org/drawingml/2006/main">
              <a:ext uri="{FF2B5EF4-FFF2-40B4-BE49-F238E27FC236}">
                <a16:creationId xmlns:a16="http://schemas.microsoft.com/office/drawing/2014/main" id="{A135C264-92F7-49E6-AC8A-1B837230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74485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8A3C"/>
            </a:solidFill>
            <a:prstDash val="solid"/>
          </a:ln>
        </p:spPr>
      </p:sp>
      <p:sp>
        <p:nvSpPr>
          <p:cNvPr id="36" name="fold-top-745">
            <a:extLst xmlns:a="http://schemas.openxmlformats.org/drawingml/2006/main">
              <a:ext uri="{FF2B5EF4-FFF2-40B4-BE49-F238E27FC236}">
                <a16:creationId xmlns:a16="http://schemas.microsoft.com/office/drawing/2014/main" id="{458C0D2A-E039-479B-8477-171A65BC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8A3C"/>
            </a:solidFill>
            <a:prstDash val="solid"/>
          </a:ln>
        </p:spPr>
      </p:sp>
      <p:sp>
        <p:nvSpPr>
          <p:cNvPr id="37" name="fold-bottom-745">
            <a:extLst xmlns:a="http://schemas.openxmlformats.org/drawingml/2006/main">
              <a:ext uri="{FF2B5EF4-FFF2-40B4-BE49-F238E27FC236}">
                <a16:creationId xmlns:a16="http://schemas.microsoft.com/office/drawing/2014/main" id="{FF872E44-491A-4651-A661-0DC0FB52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74485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8A3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9561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inside-engineering">
            <a:extLst xmlns:a="http://schemas.openxmlformats.org/drawingml/2006/main">
              <a:ext uri="{FF2B5EF4-FFF2-40B4-BE49-F238E27FC236}">
                <a16:creationId xmlns:a16="http://schemas.microsoft.com/office/drawing/2014/main" id="{D85BAB33-9BB4-4390-80A3-59FD460B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95675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Enginyeria ferroviària">
            <a:extLst xmlns:a="http://schemas.openxmlformats.org/drawingml/2006/main">
              <a:ext uri="{FF2B5EF4-FFF2-40B4-BE49-F238E27FC236}">
                <a16:creationId xmlns:a16="http://schemas.microsoft.com/office/drawing/2014/main" id="{722A4124-D6C5-4FA1-B937-A59037BE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2425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482D"/>
                </a:solidFill>
              </a:defRPr>
            </a:pPr>
            <a:r>
              <a:rPr sz="825" b="1" i="0">
                <a:solidFill>
                  <a:srgbClr val="A5482D"/>
                </a:solidFill>
              </a:rPr>
              <a:t>ENGINYERIA FERROVIÀRIA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12317-F94F-4CEF-BC7B-2FFAB75D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6750"/>
            <a:ext cx="2905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2826"/>
                </a:solidFill>
              </a:defRPr>
            </a:pPr>
            <a:r>
              <a:rPr sz="2100" b="1" i="0">
                <a:solidFill>
                  <a:srgbClr val="202826"/>
                </a:solidFill>
              </a:rPr>
              <a:t>Travessar un territori difícil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23ea102864e5b"/>
          <a:srcRect xmlns:a="http://schemas.openxmlformats.org/drawingml/2006/main" l="4569" t="0" r="45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" y="1581150"/>
            <a:ext cx="1428750" cy="2095500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f1157f0c4451d"/>
          <a:srcRect xmlns:a="http://schemas.openxmlformats.org/drawingml/2006/main" l="25302" t="0" r="25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9750" y="1581150"/>
            <a:ext cx="1381125" cy="2095500"/>
          </a:xfrm>
          <a:prstGeom xmlns:a="http://schemas.openxmlformats.org/drawingml/2006/main" prst="rect">
            <a:avLst/>
          </a:prstGeom>
        </p:spPr>
      </p:pic>
      <p:sp>
        <p:nvSpPr>
          <p:cNvPr id="6" name="dot-Ponts">
            <a:extLst xmlns:a="http://schemas.openxmlformats.org/drawingml/2006/main">
              <a:ext uri="{FF2B5EF4-FFF2-40B4-BE49-F238E27FC236}">
                <a16:creationId xmlns:a16="http://schemas.microsoft.com/office/drawing/2014/main" id="{B9301B75-3063-46B6-8EBD-8B9513C5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2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69991-464D-4369-A2F9-938FBCD8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826"/>
                </a:solidFill>
              </a:defRPr>
            </a:pPr>
            <a:r>
              <a:rPr sz="1200" b="1" i="0">
                <a:solidFill>
                  <a:srgbClr val="202826"/>
                </a:solidFill>
              </a:rPr>
              <a:t>Ponts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7A9AB-9B5D-4AFF-9345-E6CD880C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576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52615D"/>
                </a:solidFill>
              </a:defRPr>
            </a:pPr>
            <a:r>
              <a:rPr sz="848" b="0" i="0">
                <a:solidFill>
                  <a:srgbClr val="52615D"/>
                </a:solidFill>
              </a:rPr>
              <a:t>Una dotzena d'estructures de pedra i metall salvaven rius, barrancs i desnivells. Moltes peces metàl·liques foren desmuntades després del tancament.</a:t>
            </a:r>
          </a:p>
        </p:txBody>
      </p:sp>
      <p:sp>
        <p:nvSpPr>
          <p:cNvPr id="9" name="dot-Túnels">
            <a:extLst xmlns:a="http://schemas.openxmlformats.org/drawingml/2006/main">
              <a:ext uri="{FF2B5EF4-FFF2-40B4-BE49-F238E27FC236}">
                <a16:creationId xmlns:a16="http://schemas.microsoft.com/office/drawing/2014/main" id="{9F1E8D3C-C7E6-4FB0-A01F-7FEFC5AB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24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4C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98513-34BB-4F56-B27A-DE06045B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826"/>
                </a:solidFill>
              </a:defRPr>
            </a:pPr>
            <a:r>
              <a:rPr sz="1200" b="1" i="0">
                <a:solidFill>
                  <a:srgbClr val="202826"/>
                </a:solidFill>
              </a:rPr>
              <a:t>Túnels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FB1C1-7F17-4F2D-8C51-F8B8BA8D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530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52615D"/>
                </a:solidFill>
              </a:defRPr>
            </a:pPr>
            <a:r>
              <a:rPr sz="848" b="0" i="0">
                <a:solidFill>
                  <a:srgbClr val="52615D"/>
                </a:solidFill>
              </a:rPr>
              <a:t>Set túnels arribaren a formar part de la línia. La numeració arriba fins al huit perquè el número 3 s'enfonsà durant les obres.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83A23-5A97-405A-949D-2B7619EC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86525"/>
            <a:ext cx="290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1">
                <a:solidFill>
                  <a:srgbClr val="476A60"/>
                </a:solidFill>
              </a:defRPr>
            </a:pPr>
            <a:r>
              <a:rPr sz="863" b="0" i="1">
                <a:solidFill>
                  <a:srgbClr val="476A60"/>
                </a:solidFill>
              </a:rPr>
              <a:t>El congost del Serpis concentra alguns dels trams més espectaculars del recorregut.</a:t>
            </a:r>
          </a:p>
        </p:txBody>
      </p:sp>
      <p:sp>
        <p:nvSpPr>
          <p:cNvPr id="13" name="inside-route">
            <a:extLst xmlns:a="http://schemas.openxmlformats.org/drawingml/2006/main">
              <a:ext uri="{FF2B5EF4-FFF2-40B4-BE49-F238E27FC236}">
                <a16:creationId xmlns:a16="http://schemas.microsoft.com/office/drawing/2014/main" id="{B958B8C6-9096-44F2-B77A-34B135F8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0"/>
            <a:ext cx="3600450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kicker-El recorregut">
            <a:extLst xmlns:a="http://schemas.openxmlformats.org/drawingml/2006/main">
              <a:ext uri="{FF2B5EF4-FFF2-40B4-BE49-F238E27FC236}">
                <a16:creationId xmlns:a16="http://schemas.microsoft.com/office/drawing/2014/main" id="{F96CB7EF-154C-4E4F-82DD-37555CAE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2425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76A60"/>
                </a:solidFill>
              </a:defRPr>
            </a:pPr>
            <a:r>
              <a:rPr sz="825" b="1" i="0">
                <a:solidFill>
                  <a:srgbClr val="476A60"/>
                </a:solidFill>
              </a:rPr>
              <a:t>EL RECORREGUT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1A634-28E1-49BC-8D9E-547FA6CE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6667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02826"/>
                </a:solidFill>
              </a:defRPr>
            </a:pPr>
            <a:r>
              <a:rPr sz="2175" b="1" i="0">
                <a:solidFill>
                  <a:srgbClr val="202826"/>
                </a:solidFill>
              </a:rPr>
              <a:t>El traçat al mapa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3591A-451D-4E4D-AEE2-208C6C68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8110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52615D"/>
                </a:solidFill>
              </a:defRPr>
            </a:pPr>
            <a:r>
              <a:rPr sz="863" b="0" i="0">
                <a:solidFill>
                  <a:srgbClr val="52615D"/>
                </a:solidFill>
              </a:rPr>
              <a:t>La línia unia l'interior amb la costa seguint en bona part el curs del Serpis.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2932f564d410e"/>
          <a:srcRect xmlns:a="http://schemas.openxmlformats.org/drawingml/2006/main" l="1478" t="0" r="14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9525" y="1590675"/>
            <a:ext cx="295275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96263-A014-4141-9673-25143319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8766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476A60"/>
                </a:solidFill>
              </a:defRPr>
            </a:pPr>
            <a:r>
              <a:rPr sz="713" b="1" i="0">
                <a:solidFill>
                  <a:srgbClr val="476A60"/>
                </a:solidFill>
              </a:rPr>
              <a:t>TRAÇAT HISTÒRIC  ·  47 PUNTS D'INTERÉS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B9A760-9E32-4B88-90D5-73289CA3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2005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 i="0">
                <a:solidFill>
                  <a:srgbClr val="A5482D"/>
                </a:solidFill>
              </a:defRPr>
            </a:pPr>
            <a:r>
              <a:rPr sz="713" b="1" i="0">
                <a:solidFill>
                  <a:srgbClr val="A5482D"/>
                </a:solidFill>
              </a:rPr>
              <a:t>12 PARADES FERROVIÀRIES</a:t>
            </a:r>
          </a:p>
        </p:txBody>
      </p:sp>
      <p:sp>
        <p:nvSpPr>
          <p:cNvPr id="20" name="stop-list-station-0">
            <a:extLst xmlns:a="http://schemas.openxmlformats.org/drawingml/2006/main">
              <a:ext uri="{FF2B5EF4-FFF2-40B4-BE49-F238E27FC236}">
                <a16:creationId xmlns:a16="http://schemas.microsoft.com/office/drawing/2014/main" id="{E2DB8A7F-E3BD-4A59-A8A4-D7089C8C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14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4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DE42D-B37F-4DE8-9B5D-686B9520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767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202826"/>
                </a:solidFill>
              </a:defRPr>
            </a:pPr>
            <a:r>
              <a:rPr sz="788" b="1" i="0">
                <a:solidFill>
                  <a:srgbClr val="202826"/>
                </a:solidFill>
              </a:rPr>
              <a:t>Alcoi</a:t>
            </a:r>
          </a:p>
        </p:txBody>
      </p:sp>
      <p:sp>
        <p:nvSpPr>
          <p:cNvPr id="22" name="stop-list-station-1">
            <a:extLst xmlns:a="http://schemas.openxmlformats.org/drawingml/2006/main">
              <a:ext uri="{FF2B5EF4-FFF2-40B4-BE49-F238E27FC236}">
                <a16:creationId xmlns:a16="http://schemas.microsoft.com/office/drawing/2014/main" id="{51135F71-A367-4771-A256-9E9DFE69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62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4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9E97D-96BF-4B7C-BC3C-6979FFD7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244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02826"/>
                </a:solidFill>
              </a:defRPr>
            </a:pPr>
            <a:r>
              <a:rPr sz="788" b="0" i="0">
                <a:solidFill>
                  <a:srgbClr val="202826"/>
                </a:solidFill>
              </a:rPr>
              <a:t>Cocentaina</a:t>
            </a:r>
          </a:p>
        </p:txBody>
      </p:sp>
      <p:sp>
        <p:nvSpPr>
          <p:cNvPr id="24" name="stop-list-station-2">
            <a:extLst xmlns:a="http://schemas.openxmlformats.org/drawingml/2006/main">
              <a:ext uri="{FF2B5EF4-FFF2-40B4-BE49-F238E27FC236}">
                <a16:creationId xmlns:a16="http://schemas.microsoft.com/office/drawing/2014/main" id="{7722C34B-83BF-4DE8-8791-7DBEC297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10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4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26B04-D003-4D67-8F1A-4925A2B6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72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02826"/>
                </a:solidFill>
              </a:defRPr>
            </a:pPr>
            <a:r>
              <a:rPr sz="788" b="0" i="0">
                <a:solidFill>
                  <a:srgbClr val="202826"/>
                </a:solidFill>
              </a:rPr>
              <a:t>Muro d'Alcoi</a:t>
            </a:r>
          </a:p>
        </p:txBody>
      </p:sp>
      <p:sp>
        <p:nvSpPr>
          <p:cNvPr id="26" name="stop-list-halt-3">
            <a:extLst xmlns:a="http://schemas.openxmlformats.org/drawingml/2006/main">
              <a:ext uri="{FF2B5EF4-FFF2-40B4-BE49-F238E27FC236}">
                <a16:creationId xmlns:a16="http://schemas.microsoft.com/office/drawing/2014/main" id="{EBD50EC9-4A40-4931-88CE-73ADA157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578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8A3C"/>
          </a:solidFill>
          <a:ln xmlns:a="http://schemas.openxmlformats.org/drawingml/2006/main" w="0">
            <a:solidFill>
              <a:srgbClr val="B58A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0FAE69-5E99-4AB2-9997-69965F45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197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1">
                <a:solidFill>
                  <a:srgbClr val="9A6B1F"/>
                </a:solidFill>
              </a:defRPr>
            </a:pPr>
            <a:r>
              <a:rPr sz="788" b="0" i="1">
                <a:solidFill>
                  <a:srgbClr val="9A6B1F"/>
                </a:solidFill>
              </a:rPr>
              <a:t>Gaianes</a:t>
            </a:r>
          </a:p>
        </p:txBody>
      </p:sp>
      <p:sp>
        <p:nvSpPr>
          <p:cNvPr id="28" name="stop-list-station-4">
            <a:extLst xmlns:a="http://schemas.openxmlformats.org/drawingml/2006/main">
              <a:ext uri="{FF2B5EF4-FFF2-40B4-BE49-F238E27FC236}">
                <a16:creationId xmlns:a16="http://schemas.microsoft.com/office/drawing/2014/main" id="{917A49E9-0AFA-4A23-95DB-CE645257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05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4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49CF97-5995-49DC-81FB-679CF70C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673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02826"/>
                </a:solidFill>
              </a:defRPr>
            </a:pPr>
            <a:r>
              <a:rPr sz="788" b="0" i="0">
                <a:solidFill>
                  <a:srgbClr val="202826"/>
                </a:solidFill>
              </a:rPr>
              <a:t>Beniarrés</a:t>
            </a:r>
          </a:p>
        </p:txBody>
      </p:sp>
      <p:sp>
        <p:nvSpPr>
          <p:cNvPr id="30" name="stop-list-station-5">
            <a:extLst xmlns:a="http://schemas.openxmlformats.org/drawingml/2006/main">
              <a:ext uri="{FF2B5EF4-FFF2-40B4-BE49-F238E27FC236}">
                <a16:creationId xmlns:a16="http://schemas.microsoft.com/office/drawing/2014/main" id="{23C7D0AA-CAB6-4668-93F7-C3D23CFE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53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4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3E8BDB-0930-4079-BC4B-0136D5DC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7150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02826"/>
                </a:solidFill>
              </a:defRPr>
            </a:pPr>
            <a:r>
              <a:rPr sz="788" b="0" i="0">
                <a:solidFill>
                  <a:srgbClr val="202826"/>
                </a:solidFill>
              </a:rPr>
              <a:t>l'Orxa</a:t>
            </a:r>
          </a:p>
        </p:txBody>
      </p:sp>
      <p:sp>
        <p:nvSpPr>
          <p:cNvPr id="32" name="stop-list-station-6">
            <a:extLst xmlns:a="http://schemas.openxmlformats.org/drawingml/2006/main">
              <a:ext uri="{FF2B5EF4-FFF2-40B4-BE49-F238E27FC236}">
                <a16:creationId xmlns:a16="http://schemas.microsoft.com/office/drawing/2014/main" id="{5B0410CF-B3CD-4A41-BF18-2D270134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14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4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2C2CA8-FA9E-4056-9B24-6A309203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767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02826"/>
                </a:solidFill>
              </a:defRPr>
            </a:pPr>
            <a:r>
              <a:rPr sz="788" b="0" i="0">
                <a:solidFill>
                  <a:srgbClr val="202826"/>
                </a:solidFill>
              </a:rPr>
              <a:t>Vilallonga</a:t>
            </a:r>
          </a:p>
        </p:txBody>
      </p:sp>
      <p:sp>
        <p:nvSpPr>
          <p:cNvPr id="34" name="stop-list-station-7">
            <a:extLst xmlns:a="http://schemas.openxmlformats.org/drawingml/2006/main">
              <a:ext uri="{FF2B5EF4-FFF2-40B4-BE49-F238E27FC236}">
                <a16:creationId xmlns:a16="http://schemas.microsoft.com/office/drawing/2014/main" id="{C44578EE-0613-4ECA-8691-5D32B2E6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4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51E98E-1547-475D-9263-7FC4ABB6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244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02826"/>
                </a:solidFill>
              </a:defRPr>
            </a:pPr>
            <a:r>
              <a:rPr sz="788" b="0" i="0">
                <a:solidFill>
                  <a:srgbClr val="202826"/>
                </a:solidFill>
              </a:rPr>
              <a:t>Potries</a:t>
            </a:r>
          </a:p>
        </p:txBody>
      </p:sp>
      <p:sp>
        <p:nvSpPr>
          <p:cNvPr id="36" name="stop-list-halt-8">
            <a:extLst xmlns:a="http://schemas.openxmlformats.org/drawingml/2006/main">
              <a:ext uri="{FF2B5EF4-FFF2-40B4-BE49-F238E27FC236}">
                <a16:creationId xmlns:a16="http://schemas.microsoft.com/office/drawing/2014/main" id="{B87D6113-CEA3-4FC0-885B-C112974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1015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8A3C"/>
          </a:solidFill>
          <a:ln xmlns:a="http://schemas.openxmlformats.org/drawingml/2006/main" w="0">
            <a:solidFill>
              <a:srgbClr val="B58A3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374231-B34D-4FCE-A6DB-C32B8CAB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72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1">
                <a:solidFill>
                  <a:srgbClr val="9A6B1F"/>
                </a:solidFill>
              </a:defRPr>
            </a:pPr>
            <a:r>
              <a:rPr sz="788" b="0" i="1">
                <a:solidFill>
                  <a:srgbClr val="9A6B1F"/>
                </a:solidFill>
              </a:rPr>
              <a:t>Beniarjó</a:t>
            </a:r>
          </a:p>
        </p:txBody>
      </p:sp>
      <p:sp>
        <p:nvSpPr>
          <p:cNvPr id="38" name="stop-list-halt-9">
            <a:extLst xmlns:a="http://schemas.openxmlformats.org/drawingml/2006/main">
              <a:ext uri="{FF2B5EF4-FFF2-40B4-BE49-F238E27FC236}">
                <a16:creationId xmlns:a16="http://schemas.microsoft.com/office/drawing/2014/main" id="{4280C747-9A78-4910-B010-9B212758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5780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8A3C"/>
          </a:solidFill>
          <a:ln xmlns:a="http://schemas.openxmlformats.org/drawingml/2006/main" w="0">
            <a:solidFill>
              <a:srgbClr val="B58A3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F83FF5-D716-4EB1-B178-98F42F2E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2197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1">
                <a:solidFill>
                  <a:srgbClr val="9A6B1F"/>
                </a:solidFill>
              </a:defRPr>
            </a:pPr>
            <a:r>
              <a:rPr sz="788" b="0" i="1">
                <a:solidFill>
                  <a:srgbClr val="9A6B1F"/>
                </a:solidFill>
              </a:rPr>
              <a:t>Almoines</a:t>
            </a:r>
          </a:p>
        </p:txBody>
      </p:sp>
      <p:sp>
        <p:nvSpPr>
          <p:cNvPr id="40" name="stop-list-station-10">
            <a:extLst xmlns:a="http://schemas.openxmlformats.org/drawingml/2006/main">
              <a:ext uri="{FF2B5EF4-FFF2-40B4-BE49-F238E27FC236}">
                <a16:creationId xmlns:a16="http://schemas.microsoft.com/office/drawing/2014/main" id="{0B477B6F-AC91-40CB-B2DA-A72E5050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05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4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E6D833-02BD-4D3A-B1EF-90406273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4673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02826"/>
                </a:solidFill>
              </a:defRPr>
            </a:pPr>
            <a:r>
              <a:rPr sz="788" b="0" i="0">
                <a:solidFill>
                  <a:srgbClr val="202826"/>
                </a:solidFill>
              </a:rPr>
              <a:t>Gandia</a:t>
            </a:r>
          </a:p>
        </p:txBody>
      </p:sp>
      <p:sp>
        <p:nvSpPr>
          <p:cNvPr id="42" name="stop-list-station-11">
            <a:extLst xmlns:a="http://schemas.openxmlformats.org/drawingml/2006/main">
              <a:ext uri="{FF2B5EF4-FFF2-40B4-BE49-F238E27FC236}">
                <a16:creationId xmlns:a16="http://schemas.microsoft.com/office/drawing/2014/main" id="{C3B53E9E-175B-47A7-8BF6-2B18A3DB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53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4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E2BFC8-4CFB-493E-82A0-1108E2FB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7150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202826"/>
                </a:solidFill>
              </a:defRPr>
            </a:pPr>
            <a:r>
              <a:rPr sz="788" b="1" i="0">
                <a:solidFill>
                  <a:srgbClr val="202826"/>
                </a:solidFill>
              </a:rPr>
              <a:t>Port de Gandia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8BF1F7-E475-4432-AA5F-D9664968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6429375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1">
                <a:solidFill>
                  <a:srgbClr val="476A60"/>
                </a:solidFill>
              </a:defRPr>
            </a:pPr>
            <a:r>
              <a:rPr sz="863" b="0" i="1">
                <a:solidFill>
                  <a:srgbClr val="476A60"/>
                </a:solidFill>
              </a:rPr>
              <a:t>Muntanyes, ribera i horta formen un paisatge que encara conserva l'empremta del ferrocarril.</a:t>
            </a:r>
          </a:p>
        </p:txBody>
      </p:sp>
      <p:sp>
        <p:nvSpPr>
          <p:cNvPr id="45" name="inside-heritage">
            <a:extLst xmlns:a="http://schemas.openxmlformats.org/drawingml/2006/main">
              <a:ext uri="{FF2B5EF4-FFF2-40B4-BE49-F238E27FC236}">
                <a16:creationId xmlns:a16="http://schemas.microsoft.com/office/drawing/2014/main" id="{16468B0F-6A78-4D3D-91BE-1246CB25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0"/>
            <a:ext cx="3600450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kicker-Patrimoni quotidià">
            <a:extLst xmlns:a="http://schemas.openxmlformats.org/drawingml/2006/main">
              <a:ext uri="{FF2B5EF4-FFF2-40B4-BE49-F238E27FC236}">
                <a16:creationId xmlns:a16="http://schemas.microsoft.com/office/drawing/2014/main" id="{BD922ADA-D569-40BA-8C19-3E409232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524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58A3C"/>
                </a:solidFill>
              </a:defRPr>
            </a:pPr>
            <a:r>
              <a:rPr sz="825" b="1" i="0">
                <a:solidFill>
                  <a:srgbClr val="B58A3C"/>
                </a:solidFill>
              </a:rPr>
              <a:t>PATRIMONI QUOTIDIÀ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B7A46D-83E6-4BFF-A57C-83BEB0AA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6675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02826"/>
                </a:solidFill>
              </a:defRPr>
            </a:pPr>
            <a:r>
              <a:rPr sz="2025" b="1" i="0">
                <a:solidFill>
                  <a:srgbClr val="202826"/>
                </a:solidFill>
              </a:rPr>
              <a:t>Edificis que encara conten històries</a:t>
            </a:r>
          </a:p>
        </p:txBody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0745b5fbd4f93"/>
          <a:srcRect xmlns:a="http://schemas.openxmlformats.org/drawingml/2006/main" l="2675" t="0" r="26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0925" y="1571625"/>
            <a:ext cx="1381125" cy="1095375"/>
          </a:xfrm>
          <a:prstGeom xmlns:a="http://schemas.openxmlformats.org/drawingml/2006/main" prst="rect">
            <a:avLst/>
          </a:prstGeom>
        </p:spPr>
      </p:pic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8fe8f426a4eca"/>
          <a:srcRect xmlns:a="http://schemas.openxmlformats.org/drawingml/2006/main" l="0" t="20237" r="0" b="20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1571625"/>
            <a:ext cx="1381125" cy="1095375"/>
          </a:xfrm>
          <a:prstGeom xmlns:a="http://schemas.openxmlformats.org/drawingml/2006/main" prst="rect">
            <a:avLst/>
          </a:prstGeom>
        </p:spPr>
      </p:pic>
      <p:sp>
        <p:nvSpPr>
          <p:cNvPr id="50" name="dot-Estacions i baixadors">
            <a:extLst xmlns:a="http://schemas.openxmlformats.org/drawingml/2006/main">
              <a:ext uri="{FF2B5EF4-FFF2-40B4-BE49-F238E27FC236}">
                <a16:creationId xmlns:a16="http://schemas.microsoft.com/office/drawing/2014/main" id="{C935F39A-F839-4309-A56C-8CD61D24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990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4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A5A80C-9AED-4299-BB8A-74D8F372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622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826"/>
                </a:solidFill>
              </a:defRPr>
            </a:pPr>
            <a:r>
              <a:rPr sz="1200" b="1" i="0">
                <a:solidFill>
                  <a:srgbClr val="202826"/>
                </a:solidFill>
              </a:rPr>
              <a:t>Estacions i baixadors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A98881-2F44-4687-B598-CCC8D3DB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219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52615D"/>
                </a:solidFill>
              </a:defRPr>
            </a:pPr>
            <a:r>
              <a:rPr sz="848" b="0" i="0">
                <a:solidFill>
                  <a:srgbClr val="52615D"/>
                </a:solidFill>
              </a:rPr>
              <a:t>Espais de trobada, espera i organització del servei, fàcilment reconeixibles per la seua arquitectura comuna.</a:t>
            </a:r>
          </a:p>
        </p:txBody>
      </p:sp>
      <p:sp>
        <p:nvSpPr>
          <p:cNvPr id="53" name="dot-Caselles">
            <a:extLst xmlns:a="http://schemas.openxmlformats.org/drawingml/2006/main">
              <a:ext uri="{FF2B5EF4-FFF2-40B4-BE49-F238E27FC236}">
                <a16:creationId xmlns:a16="http://schemas.microsoft.com/office/drawing/2014/main" id="{E32038B2-B82D-4819-8471-58EFF5DA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857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6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D73086-086B-4CC8-AEC4-372D0B03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29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826"/>
                </a:solidFill>
              </a:defRPr>
            </a:pPr>
            <a:r>
              <a:rPr sz="1200" b="1" i="0">
                <a:solidFill>
                  <a:srgbClr val="202826"/>
                </a:solidFill>
              </a:rPr>
              <a:t>Caselles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EEC2D0-11DF-4FD0-8EFD-C27D55BE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862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52615D"/>
                </a:solidFill>
              </a:defRPr>
            </a:pPr>
            <a:r>
              <a:rPr sz="848" b="0" i="0">
                <a:solidFill>
                  <a:srgbClr val="52615D"/>
                </a:solidFill>
              </a:rPr>
              <a:t>Habitatges i llocs de treball per als empleats que vigilaven i mantenien la via.</a:t>
            </a:r>
          </a:p>
        </p:txBody>
      </p:sp>
      <p:sp>
        <p:nvSpPr>
          <p:cNvPr id="56" name="dot-Dipòsits">
            <a:extLst xmlns:a="http://schemas.openxmlformats.org/drawingml/2006/main">
              <a:ext uri="{FF2B5EF4-FFF2-40B4-BE49-F238E27FC236}">
                <a16:creationId xmlns:a16="http://schemas.microsoft.com/office/drawing/2014/main" id="{39F90F37-C8D1-4268-8AFB-63A0D070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648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D25324-CD3C-4E7E-A3EA-74710E26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6196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826"/>
                </a:solidFill>
              </a:defRPr>
            </a:pPr>
            <a:r>
              <a:rPr sz="1200" b="1" i="0">
                <a:solidFill>
                  <a:srgbClr val="202826"/>
                </a:solidFill>
              </a:rPr>
              <a:t>Dipòsits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416757-0384-48EE-9392-E8F6F320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76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52615D"/>
                </a:solidFill>
              </a:defRPr>
            </a:pPr>
            <a:r>
              <a:rPr sz="848" b="0" i="0">
                <a:solidFill>
                  <a:srgbClr val="52615D"/>
                </a:solidFill>
              </a:rPr>
              <a:t>Instal·lacions per guardar locomotores i proveir d'aigua les màquines de vapor.</a:t>
            </a:r>
          </a:p>
        </p:txBody>
      </p:sp>
      <p:sp>
        <p:nvSpPr>
          <p:cNvPr id="59" name="dot-Molls de mercaderies">
            <a:extLst xmlns:a="http://schemas.openxmlformats.org/drawingml/2006/main">
              <a:ext uri="{FF2B5EF4-FFF2-40B4-BE49-F238E27FC236}">
                <a16:creationId xmlns:a16="http://schemas.microsoft.com/office/drawing/2014/main" id="{3BA76777-8301-4F4E-BF9F-46DDB51E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438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4E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840036-C357-434F-90D1-405CAE18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410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826"/>
                </a:solidFill>
              </a:defRPr>
            </a:pPr>
            <a:r>
              <a:rPr sz="1200" b="1" i="0">
                <a:solidFill>
                  <a:srgbClr val="202826"/>
                </a:solidFill>
              </a:rPr>
              <a:t>Molls de mercaderies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8CA562-67FC-4D8A-9038-EA6E254C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6673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52615D"/>
                </a:solidFill>
              </a:defRPr>
            </a:pPr>
            <a:r>
              <a:rPr sz="848" b="0" i="0">
                <a:solidFill>
                  <a:srgbClr val="52615D"/>
                </a:solidFill>
              </a:rPr>
              <a:t>Plataformes elevades que facilitaven la càrrega de paper, oli, vi, teixits, fruita, carbó i fusta.</a:t>
            </a:r>
          </a:p>
        </p:txBody>
      </p:sp>
      <p:sp>
        <p:nvSpPr>
          <p:cNvPr id="62" name="digital-callout">
            <a:extLst xmlns:a="http://schemas.openxmlformats.org/drawingml/2006/main">
              <a:ext uri="{FF2B5EF4-FFF2-40B4-BE49-F238E27FC236}">
                <a16:creationId xmlns:a16="http://schemas.microsoft.com/office/drawing/2014/main" id="{29826CC1-C79D-4246-BDD1-401789BA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486525"/>
            <a:ext cx="29527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294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CA4CC2-73B5-46DE-A3DD-32981A79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389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40" b="1" i="0">
                <a:solidFill>
                  <a:srgbClr val="FFFFFF"/>
                </a:solidFill>
              </a:defRPr>
            </a:pPr>
            <a:r>
              <a:rPr sz="840" b="1" i="0">
                <a:solidFill>
                  <a:srgbClr val="FFFFFF"/>
                </a:solidFill>
              </a:rPr>
              <a:t>La guia digital mostra fotografies, estat de conservació i textos per a cada tipus de patrimoni.</a:t>
            </a:r>
          </a:p>
        </p:txBody>
      </p:sp>
      <p:sp>
        <p:nvSpPr>
          <p:cNvPr id="64" name="fold-top-367">
            <a:extLst xmlns:a="http://schemas.openxmlformats.org/drawingml/2006/main">
              <a:ext uri="{FF2B5EF4-FFF2-40B4-BE49-F238E27FC236}">
                <a16:creationId xmlns:a16="http://schemas.microsoft.com/office/drawing/2014/main" id="{ECE31568-1D9E-4117-9537-5F3E0427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8A3C"/>
            </a:solidFill>
            <a:prstDash val="solid"/>
          </a:ln>
        </p:spPr>
      </p:sp>
      <p:sp>
        <p:nvSpPr>
          <p:cNvPr id="65" name="fold-bottom-367">
            <a:extLst xmlns:a="http://schemas.openxmlformats.org/drawingml/2006/main">
              <a:ext uri="{FF2B5EF4-FFF2-40B4-BE49-F238E27FC236}">
                <a16:creationId xmlns:a16="http://schemas.microsoft.com/office/drawing/2014/main" id="{8EA35040-42BF-4192-A9E1-0A58C032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74485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8A3C"/>
            </a:solidFill>
            <a:prstDash val="solid"/>
          </a:ln>
        </p:spPr>
      </p:sp>
      <p:sp>
        <p:nvSpPr>
          <p:cNvPr id="66" name="fold-top-745">
            <a:extLst xmlns:a="http://schemas.openxmlformats.org/drawingml/2006/main">
              <a:ext uri="{FF2B5EF4-FFF2-40B4-BE49-F238E27FC236}">
                <a16:creationId xmlns:a16="http://schemas.microsoft.com/office/drawing/2014/main" id="{F3941F8A-4FD5-4C2E-B670-309A9900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8A3C"/>
            </a:solidFill>
            <a:prstDash val="solid"/>
          </a:ln>
        </p:spPr>
      </p:sp>
      <p:sp>
        <p:nvSpPr>
          <p:cNvPr id="67" name="fold-bottom-745">
            <a:extLst xmlns:a="http://schemas.openxmlformats.org/drawingml/2006/main">
              <a:ext uri="{FF2B5EF4-FFF2-40B4-BE49-F238E27FC236}">
                <a16:creationId xmlns:a16="http://schemas.microsoft.com/office/drawing/2014/main" id="{4966133A-4809-4413-B669-CF949ECC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74485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8A3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9775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2026-08-30T09:44:12.6700000Z</dcterms:created>
  <dcterms:modified xsi:type="dcterms:W3CDTF">2026-08-30T09:44:12.6700000Z</dcterms:modified>
</coreProperties>
</file>